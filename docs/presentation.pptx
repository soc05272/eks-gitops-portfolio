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서비스명을 앞세운 표지. 구축과 검증(5회 재현)을 분리 표기.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목차. 시연 과정에 HPA가 추가됐고, 07은 트러블슈팅+재점검 구성.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경력 연결이 핵심. 역량 4축 — 4번째 축에 HPA 실증이 들어갔다.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결과부터 보여주는 장. HPA 실증이 배지로 승격.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파이프라인(위)과 VPC(아래). 앱 파드는 HPA가 2~6으로 조절.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4번이 갱신 포인트 — HPA와 ArgoCD의 역할 분리(충돌 방지)까지 설계 의도로 승격.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각 카드 아래 '무엇을 위해 썼는지' 한 줄이 포인트. PG17·HPA 반영.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앱의 단순함은 의도적 설계. stateless가 HPA·Spot의 전제임을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여기에 ArgoCD Synced 스크린샷을 추가해도 좋다 (확보됨).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파드 kill → Slack 실수신. self-healing(자동 복구)도 같은 실험에서 실증.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HPA 사이클 실증 + 한계(Pending) 관찰까지. '늘어난 것'보다 '한계를 본 것'이 더 값지다는 톤으로.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무증상 실패를 쪼개서 진단한 과정이 포인트.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추측 대신 CloudTrail 실측값 확인 — 가장 값진 디버깅 사례.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실수를 절차 개선으로 전환한 태도를 보여주는 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장이 차별화 포인트. 에러가 나기 전에(또는 에러 없이) 문제를 발견한 4건.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PG17 행 추가 — 현업 버전과 정렬한 결정. 근거에 수치와 포기한 대안.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클라이맥스. 재현 5회·루틴 9단계로 갱신.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배운 점 1번에 HPA 관찰이 녹아듦. 백로그 1순위가 CA로 — Pending 실증이 근거.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표지와 수미상관. 질문 대응은 interview-prep.md 기반.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27337A"/>
          </a:solidFill>
          <a:ln/>
        </p:spPr>
      </p:sp>
      <p:sp>
        <p:nvSpPr>
          <p:cNvPr id="3" name="Shape 1"/>
          <p:cNvSpPr/>
          <p:nvPr/>
        </p:nvSpPr>
        <p:spPr>
          <a:xfrm>
            <a:off x="-1554480" y="4937760"/>
            <a:ext cx="3474720" cy="3474720"/>
          </a:xfrm>
          <a:prstGeom prst="ellipse">
            <a:avLst/>
          </a:prstGeom>
          <a:solidFill>
            <a:srgbClr val="27337A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502920"/>
            <a:ext cx="2834640" cy="502920"/>
          </a:xfrm>
          <a:prstGeom prst="roundRect">
            <a:avLst>
              <a:gd name="adj" fmla="val 49091"/>
            </a:avLst>
          </a:prstGeom>
          <a:solidFill>
            <a:srgbClr val="27337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50292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Infra Portfolio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326880" y="548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1인 개인 프로젝트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19202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텍스트 요약 서비스를 위한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82296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AWS EKS · GitOps 인프라 프로젝트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822960" y="3703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운영에서 구축으로 — IaC · GitOps · 관측성 기반 하나의 사이클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22960" y="51206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고혁배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(AWS · Terraform · EKS · ArgoCD)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0" y="51206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2026.07 ~ 2026.08 (구축)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2026.08 (전 구간 재검증 ×5)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029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포트폴리오 소개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02920" y="237744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목차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2920" y="29260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394960" y="6858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035040" y="68580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개요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394960" y="1161288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94960" y="125272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035040" y="1252728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요약·성과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5394960" y="1728216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94960" y="1819656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035040" y="1819656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아키텍처 흐름도 구성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5394960" y="2295144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94960" y="238658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035040" y="2386584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기술스택 활용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5394960" y="2862072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94960" y="295351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035040" y="2953512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애플리케이션 구성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5394960" y="3429000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394960" y="352044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035040" y="352044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시연 과정 (GitOps · 알람 · HPA)</a:t>
            </a:r>
            <a:endParaRPr lang="en-US" sz="1550" dirty="0"/>
          </a:p>
        </p:txBody>
      </p:sp>
      <p:sp>
        <p:nvSpPr>
          <p:cNvPr id="23" name="Shape 21"/>
          <p:cNvSpPr/>
          <p:nvPr/>
        </p:nvSpPr>
        <p:spPr>
          <a:xfrm>
            <a:off x="5394960" y="3995928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94960" y="408736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035040" y="4087368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트러블슈팅 · 재점검</a:t>
            </a:r>
            <a:endParaRPr lang="en-US" sz="1550" dirty="0"/>
          </a:p>
        </p:txBody>
      </p:sp>
      <p:sp>
        <p:nvSpPr>
          <p:cNvPr id="26" name="Shape 24"/>
          <p:cNvSpPr/>
          <p:nvPr/>
        </p:nvSpPr>
        <p:spPr>
          <a:xfrm>
            <a:off x="5394960" y="4562856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394960" y="4654296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035040" y="4654296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설계 의사결정</a:t>
            </a:r>
            <a:endParaRPr lang="en-US" sz="1550" dirty="0"/>
          </a:p>
        </p:txBody>
      </p:sp>
      <p:sp>
        <p:nvSpPr>
          <p:cNvPr id="29" name="Shape 27"/>
          <p:cNvSpPr/>
          <p:nvPr/>
        </p:nvSpPr>
        <p:spPr>
          <a:xfrm>
            <a:off x="5394960" y="5129784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394960" y="522122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035040" y="5221224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IaC 기반 비용 통제</a:t>
            </a:r>
            <a:endParaRPr lang="en-US" sz="1550" dirty="0"/>
          </a:p>
        </p:txBody>
      </p:sp>
      <p:sp>
        <p:nvSpPr>
          <p:cNvPr id="32" name="Shape 30"/>
          <p:cNvSpPr/>
          <p:nvPr/>
        </p:nvSpPr>
        <p:spPr>
          <a:xfrm>
            <a:off x="5394960" y="5696712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394960" y="578815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035040" y="5788152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마무리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01. 프로젝트 개요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01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143000"/>
            <a:ext cx="11064240" cy="1783080"/>
          </a:xfrm>
          <a:prstGeom prst="roundRect">
            <a:avLst>
              <a:gd name="adj" fmla="val 4615"/>
            </a:avLst>
          </a:prstGeom>
          <a:solidFill>
            <a:srgbClr val="F4F6FC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2984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“관제하고 운영하던 클라우드를, 이번에는 직접 설계하다”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005840" y="187452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통합관제 솔루션(ZENIUS) 기술지원 — KT Cloud(PPP)·온프레미스에 관제 시스템 구축, Linux·PostgreSQL 장애 분석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클라우드 운영 — Docker 이미지 표준화로 개발 환경 제공 시간 40% 단축 (NHN·Naver Cloud)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운영에서 체감한 수작업의 한계를, AWS SA Professional 설계 지식 기반의 직접 구축·검증으로 해소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3246120"/>
            <a:ext cx="2651760" cy="2697480"/>
          </a:xfrm>
          <a:prstGeom prst="roundRect">
            <a:avLst>
              <a:gd name="adj" fmla="val 310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IaC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40080" y="3931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(Infrastructure as Code)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49808" y="4434840"/>
            <a:ext cx="2249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리소스 78개 전체 코드화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한 번의 동일 환경 재현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83280" y="3246120"/>
            <a:ext cx="2651760" cy="2697480"/>
          </a:xfrm>
          <a:prstGeom prst="roundRect">
            <a:avLst>
              <a:gd name="adj" fmla="val 310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20440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GitOps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3474720" y="3931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(CI/CD)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584448" y="4434840"/>
            <a:ext cx="2249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한 번으로 빌드→자동 배포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 drift 감지·자동 복구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17920" y="3246120"/>
            <a:ext cx="2651760" cy="2697480"/>
          </a:xfrm>
          <a:prstGeom prst="roundRect">
            <a:avLst>
              <a:gd name="adj" fmla="val 310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355080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보안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6309360" y="3931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(Security)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19088" y="4434840"/>
            <a:ext cx="2249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 키리스 인증 · IRSA 최소 권한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비밀값 Secret 분리 주입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560" y="3246120"/>
            <a:ext cx="2651760" cy="2697480"/>
          </a:xfrm>
          <a:prstGeom prst="roundRect">
            <a:avLst>
              <a:gd name="adj" fmla="val 310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189720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관측·확장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9144000" y="3931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(Observability · HPA)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9253728" y="4434840"/>
            <a:ext cx="2249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알람 실수신 검증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HPA 2→6→2 오토스케일링 실증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02. 프로젝트 요약·성과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02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0525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목표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텍스트 요약 서비스를 EKS 위에 GitOps로 배포 + 관측성·오토스케일링 구축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기간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2026.07 ~ 08  (실작업 약 8일, 주말·저녁 활용)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핵심 기술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Terraform · EKS · RDS(PostgreSQL 17) · GitHub Actions(OIDC) · ArgoCD · HPA · Prometheus/Grafana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규모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Terraform 리소스 78개 · 트러블슈팅 기록 7건 · ADR 3건 · 수명주기 재현 5회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526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 항목 실증 완료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4983480"/>
            <a:ext cx="2651760" cy="777240"/>
          </a:xfrm>
          <a:prstGeom prst="roundRect">
            <a:avLst>
              <a:gd name="adj" fmla="val 14118"/>
            </a:avLst>
          </a:prstGeom>
          <a:solidFill>
            <a:srgbClr val="1E2761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49834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FE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서비스 E2E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3383280" y="4983480"/>
            <a:ext cx="2651760" cy="777240"/>
          </a:xfrm>
          <a:prstGeom prst="roundRect">
            <a:avLst>
              <a:gd name="adj" fmla="val 14118"/>
            </a:avLst>
          </a:prstGeom>
          <a:solidFill>
            <a:srgbClr val="1E2761"/>
          </a:solidFill>
          <a:ln/>
        </p:spPr>
      </p:sp>
      <p:sp>
        <p:nvSpPr>
          <p:cNvPr id="9" name="Text 6"/>
          <p:cNvSpPr/>
          <p:nvPr/>
        </p:nvSpPr>
        <p:spPr>
          <a:xfrm>
            <a:off x="3383280" y="49834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FE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GitOps 자동배포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217920" y="4983480"/>
            <a:ext cx="2651760" cy="777240"/>
          </a:xfrm>
          <a:prstGeom prst="roundRect">
            <a:avLst>
              <a:gd name="adj" fmla="val 14118"/>
            </a:avLst>
          </a:prstGeom>
          <a:solidFill>
            <a:srgbClr val="1E2761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0" y="49834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FE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HPA 2→6→2 실증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9052560" y="4983480"/>
            <a:ext cx="2651760" cy="777240"/>
          </a:xfrm>
          <a:prstGeom prst="roundRect">
            <a:avLst>
              <a:gd name="adj" fmla="val 14118"/>
            </a:avLst>
          </a:prstGeom>
          <a:solidFill>
            <a:srgbClr val="1E2761"/>
          </a:solidFill>
          <a:ln/>
        </p:spPr>
      </p:sp>
      <p:sp>
        <p:nvSpPr>
          <p:cNvPr id="13" name="Text 10"/>
          <p:cNvSpPr/>
          <p:nvPr/>
        </p:nvSpPr>
        <p:spPr>
          <a:xfrm>
            <a:off x="9052560" y="49834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FE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알람 실수신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03. 아키텍처 흐름도 구성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1E2761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23444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push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203704" y="141732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7" name="Shape 5"/>
          <p:cNvSpPr/>
          <p:nvPr/>
        </p:nvSpPr>
        <p:spPr>
          <a:xfrm>
            <a:off x="2432304" y="123444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78024" y="123444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 키리스 인증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087368" y="141732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0" name="Shape 8"/>
          <p:cNvSpPr/>
          <p:nvPr/>
        </p:nvSpPr>
        <p:spPr>
          <a:xfrm>
            <a:off x="4315968" y="123444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61688" y="123444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971032" y="141732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3" name="Shape 11"/>
          <p:cNvSpPr/>
          <p:nvPr/>
        </p:nvSpPr>
        <p:spPr>
          <a:xfrm>
            <a:off x="6199632" y="123444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45352" y="123444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매니페스트 repo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 커밋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854696" y="141732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6" name="Shape 14"/>
          <p:cNvSpPr/>
          <p:nvPr/>
        </p:nvSpPr>
        <p:spPr>
          <a:xfrm>
            <a:off x="8083296" y="123444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29016" y="123444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auto-sync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738360" y="141732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9" name="Shape 17"/>
          <p:cNvSpPr/>
          <p:nvPr/>
        </p:nvSpPr>
        <p:spPr>
          <a:xfrm>
            <a:off x="9966960" y="123444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12680" y="123444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무중단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롤링 배포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8640" y="2148840"/>
            <a:ext cx="7498080" cy="3291840"/>
          </a:xfrm>
          <a:prstGeom prst="roundRect">
            <a:avLst>
              <a:gd name="adj" fmla="val 2222"/>
            </a:avLst>
          </a:prstGeom>
          <a:solidFill>
            <a:srgbClr val="F4F6FC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228600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10.0.0.0/16  (2개 가용영역)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77240" y="2697480"/>
            <a:ext cx="704088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B9C6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60120" y="27706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서브넷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960120" y="306324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 (internet-facing) · NAT Gateway ×1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77240" y="3566160"/>
            <a:ext cx="704088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B9C6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120" y="363931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서브넷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60120" y="393192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 1.31 노드 (Spot ×2) — 앱 파드 2~6 (HPA) · ArgoCD · Prometheus/Grafana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77240" y="4434840"/>
            <a:ext cx="704088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B9C6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60120" y="450799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서브넷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960120" y="480060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PostgreSQL 17 (db.t3.micro)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48640" y="557784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 → ALB → 파드 → RDS / Claude API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412480" y="2148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설계 포인트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8412480" y="2651760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5" name="Text 33"/>
          <p:cNvSpPr/>
          <p:nvPr/>
        </p:nvSpPr>
        <p:spPr>
          <a:xfrm>
            <a:off x="8412480" y="26517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8869680" y="2615184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액세스 키 없는 CI 인증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8869680" y="29260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OIDC → AWS Role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8412480" y="3611880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9" name="Text 37"/>
          <p:cNvSpPr/>
          <p:nvPr/>
        </p:nvSpPr>
        <p:spPr>
          <a:xfrm>
            <a:off x="8412480" y="3611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869680" y="3575304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파드 단위 최소 권한</a:t>
            </a:r>
            <a:endParaRPr lang="en-US" sz="1350" dirty="0"/>
          </a:p>
        </p:txBody>
      </p:sp>
      <p:sp>
        <p:nvSpPr>
          <p:cNvPr id="41" name="Text 39"/>
          <p:cNvSpPr/>
          <p:nvPr/>
        </p:nvSpPr>
        <p:spPr>
          <a:xfrm>
            <a:off x="8869680" y="38862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IRSA로 파드 단위 권한 분리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8412480" y="4572000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43" name="Text 41"/>
          <p:cNvSpPr/>
          <p:nvPr/>
        </p:nvSpPr>
        <p:spPr>
          <a:xfrm>
            <a:off x="8412480" y="4572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8869680" y="4535424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상태/무상태 계층 분리</a:t>
            </a:r>
            <a:endParaRPr lang="en-US" sz="1350" dirty="0"/>
          </a:p>
        </p:txBody>
      </p:sp>
      <p:sp>
        <p:nvSpPr>
          <p:cNvPr id="45" name="Text 43"/>
          <p:cNvSpPr/>
          <p:nvPr/>
        </p:nvSpPr>
        <p:spPr>
          <a:xfrm>
            <a:off x="8869680" y="48463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3계층 서브넷 설계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03. 아키텍처 흐름도 구성 — 핵심 설계 의도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04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822960" y="1371600"/>
            <a:ext cx="10515600" cy="4754880"/>
          </a:xfrm>
          <a:prstGeom prst="roundRect">
            <a:avLst>
              <a:gd name="adj" fmla="val 1923"/>
            </a:avLst>
          </a:prstGeom>
          <a:solidFill>
            <a:srgbClr val="F4F6F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459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&lt;핵심 설계 의도&gt;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463040" y="228600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1) 외부 진입점을 ALB 한 줄기로 단일화 — 파드 IP 직접 라우팅(target-type: ip)으로 홉 최소화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63040" y="3218688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2) 민감 자원 격리 — EKS·RDS는 Private/DB 서브넷, RDS는 노드 SG 참조 방식으로 5432만 허용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463040" y="4151376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3) AWS 자원 전량 Terraform 재현 — 서브넷 태그까지 코드 명시, destroy 후 13개 항목 잔여물 전수검증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463040" y="5084064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4) 부하는 HPA가, 배포는 ArgoCD가 — replicas 소유권을 나눠 자동화 도구끼리의 충돌까지 설계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04. 기술스택 활용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05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5270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클라우드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685800" y="20391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(ap-northeast-2)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77240" y="25146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클라우드 인프라 및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서비스 운영 기반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43400" y="13258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26280" y="15270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컨테이너·오케스트레이션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4480560" y="20391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· ECR · EKS · HPA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572000" y="25146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컨테이너 빌드부터 배포,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자가치유·자동 확장까지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38160" y="13258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321040" y="15270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인프라 코드화 (IaC)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8275320" y="20391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366760" y="25146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리소스 78개 코드 정의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재현·관리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8404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31520" y="40416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CI/CD (GitOps)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685800" y="45537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· ArgoCD · Kustomize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77240" y="50292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기반 자동 배포와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자동 복구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343400" y="38404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526280" y="40416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데이터 저장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4480560" y="45537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(PostgreSQL 17)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572000" y="50292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관리형 DB로 상태 분리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 참조 접근 통제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138160" y="38404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321040" y="40416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관측·알람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8275320" y="45537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· Grafana · CloudWatch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366760" y="50292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지표 수집·대시보드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알람 전달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05. 애플리케이션 구성 — 인프라를 관통하는 검증 단위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텍스트 요약 API  ·  FastAPI + Claude API + RDS  ·  단일 파일 88줄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/summaries 한 요청의 여정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인터넷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542032" y="2350008"/>
            <a:ext cx="24688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9" name="Shape 7"/>
          <p:cNvSpPr/>
          <p:nvPr/>
        </p:nvSpPr>
        <p:spPr>
          <a:xfrm>
            <a:off x="2825496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71216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818888" y="2350008"/>
            <a:ext cx="24688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2" name="Shape 10"/>
          <p:cNvSpPr/>
          <p:nvPr/>
        </p:nvSpPr>
        <p:spPr>
          <a:xfrm>
            <a:off x="5102352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48072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파드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095744" y="2350008"/>
            <a:ext cx="24688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5" name="Shape 13"/>
          <p:cNvSpPr/>
          <p:nvPr/>
        </p:nvSpPr>
        <p:spPr>
          <a:xfrm>
            <a:off x="7379208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24928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API 요약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(NAT 경유)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9372600" y="2350008"/>
            <a:ext cx="24688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8" name="Shape 16"/>
          <p:cNvSpPr/>
          <p:nvPr/>
        </p:nvSpPr>
        <p:spPr>
          <a:xfrm>
            <a:off x="9656064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01784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저장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48640" y="32004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지킨 클라우드 네이티브 규약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48640" y="3611880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611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51560" y="359359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  </a:t>
            </a:r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상태는 전부 RDS로 — 파드는 언제 죽어도 되는 소모품 (HPA 증감·Spot 회수의 전제)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48640" y="4178808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4178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51560" y="416052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비밀값 0   </a:t>
            </a:r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쿠버네티스 Secret이 환경변수로 주입 — 코드·이미지·repo 어디에도 없음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548640" y="4745736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8" name="Text 26"/>
          <p:cNvSpPr/>
          <p:nvPr/>
        </p:nvSpPr>
        <p:spPr>
          <a:xfrm>
            <a:off x="548640" y="4745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51560" y="4727448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프로브 계약   </a:t>
            </a:r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/healthz로 자가치유와 협력 + 배포 버전 확인 창구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548640" y="55778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“이 요청 하나가 성공하면, 시스템 전체가 검증된 것”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06. 시연 과정 (1/3) — GitOps 자동 배포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07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40080" y="1490472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490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41248" y="1920240"/>
            <a:ext cx="0" cy="43891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80160" y="1371600"/>
            <a:ext cx="6035040" cy="731520"/>
          </a:xfrm>
          <a:prstGeom prst="roundRect">
            <a:avLst>
              <a:gd name="adj" fmla="val 8750"/>
            </a:avLst>
          </a:prstGeom>
          <a:solidFill>
            <a:srgbClr val="F4F6FC"/>
          </a:solidFill>
          <a:ln/>
        </p:spPr>
      </p:sp>
      <p:sp>
        <p:nvSpPr>
          <p:cNvPr id="8" name="Text 6"/>
          <p:cNvSpPr/>
          <p:nvPr/>
        </p:nvSpPr>
        <p:spPr>
          <a:xfrm>
            <a:off x="1554480" y="1371600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push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버전 0.2.1 커밋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40080" y="2459736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41248" y="2889504"/>
            <a:ext cx="0" cy="43891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80160" y="2340864"/>
            <a:ext cx="6035040" cy="731520"/>
          </a:xfrm>
          <a:prstGeom prst="roundRect">
            <a:avLst>
              <a:gd name="adj" fmla="val 8750"/>
            </a:avLst>
          </a:prstGeom>
          <a:solidFill>
            <a:srgbClr val="F4F6FC"/>
          </a:solidFill>
          <a:ln/>
        </p:spPr>
      </p:sp>
      <p:sp>
        <p:nvSpPr>
          <p:cNvPr id="13" name="Text 11"/>
          <p:cNvSpPr/>
          <p:nvPr/>
        </p:nvSpPr>
        <p:spPr>
          <a:xfrm>
            <a:off x="1554480" y="2340864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 인증 → 이미지 빌드 → ECR 푸시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640080" y="3429000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429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41248" y="3858768"/>
            <a:ext cx="0" cy="43891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80160" y="3310128"/>
            <a:ext cx="6035040" cy="731520"/>
          </a:xfrm>
          <a:prstGeom prst="roundRect">
            <a:avLst>
              <a:gd name="adj" fmla="val 8750"/>
            </a:avLst>
          </a:prstGeom>
          <a:solidFill>
            <a:srgbClr val="F4F6FC"/>
          </a:solidFill>
          <a:ln/>
        </p:spPr>
      </p:sp>
      <p:sp>
        <p:nvSpPr>
          <p:cNvPr id="18" name="Text 16"/>
          <p:cNvSpPr/>
          <p:nvPr/>
        </p:nvSpPr>
        <p:spPr>
          <a:xfrm>
            <a:off x="1554480" y="3310128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매니페스트 repo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이미지 태그 자동 커밋 (kustomize edit)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40080" y="4398264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43982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41248" y="4828032"/>
            <a:ext cx="0" cy="43891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80160" y="4279392"/>
            <a:ext cx="6035040" cy="731520"/>
          </a:xfrm>
          <a:prstGeom prst="roundRect">
            <a:avLst>
              <a:gd name="adj" fmla="val 8750"/>
            </a:avLst>
          </a:prstGeom>
          <a:solidFill>
            <a:srgbClr val="F4F6FC"/>
          </a:solidFill>
          <a:ln/>
        </p:spPr>
      </p:sp>
      <p:sp>
        <p:nvSpPr>
          <p:cNvPr id="23" name="Text 21"/>
          <p:cNvSpPr/>
          <p:nvPr/>
        </p:nvSpPr>
        <p:spPr>
          <a:xfrm>
            <a:off x="1554480" y="4279392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변경 감지 → 무중단 롤링 배포</a:t>
            </a:r>
            <a:endParaRPr lang="en-US" sz="1450" dirty="0"/>
          </a:p>
        </p:txBody>
      </p:sp>
      <p:sp>
        <p:nvSpPr>
          <p:cNvPr id="24" name="Shape 22"/>
          <p:cNvSpPr/>
          <p:nvPr/>
        </p:nvSpPr>
        <p:spPr>
          <a:xfrm>
            <a:off x="640080" y="5367528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53675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1280160" y="5248656"/>
            <a:ext cx="6035040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27" name="Text 25"/>
          <p:cNvSpPr/>
          <p:nvPr/>
        </p:nvSpPr>
        <p:spPr>
          <a:xfrm>
            <a:off x="1554480" y="5248656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인터넷 검증    </a:t>
            </a:r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{"version": "0.2.1"} 응답 확인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7772400" y="13716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GitOps 구조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772400" y="1828800"/>
            <a:ext cx="3886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앱 repo(공개) · 매니페스트 repo(비공개) 분리 — Git이 배포 상태의 단일 진실 공급원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수동 변경이 섞여도 ArgoCD가 drift 감지 후 Git 상태로 복원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롤백 = 매니페스트 repo git revert 한 번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7772400" y="4572000"/>
            <a:ext cx="3886200" cy="1417320"/>
          </a:xfrm>
          <a:prstGeom prst="roundRect">
            <a:avLst>
              <a:gd name="adj" fmla="val 5161"/>
            </a:avLst>
          </a:prstGeom>
          <a:solidFill>
            <a:srgbClr val="10163F"/>
          </a:solidFill>
          <a:ln/>
        </p:spPr>
      </p:sp>
      <p:sp>
        <p:nvSpPr>
          <p:cNvPr id="31" name="Text 29"/>
          <p:cNvSpPr/>
          <p:nvPr/>
        </p:nvSpPr>
        <p:spPr>
          <a:xfrm>
            <a:off x="8001000" y="470916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FB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http://&lt;ALB&gt;/healthz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7FE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{"status":"ok",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7FE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"version":"0.2.1"}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06. 시연 과정 (2/3) — 관측·알람 검증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08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463040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176272" y="1645920"/>
            <a:ext cx="219456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7" name="Shape 5"/>
          <p:cNvSpPr/>
          <p:nvPr/>
        </p:nvSpPr>
        <p:spPr>
          <a:xfrm>
            <a:off x="2423160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68880" y="1463040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Alertmanager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050792" y="1645920"/>
            <a:ext cx="219456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0" name="Shape 8"/>
          <p:cNvSpPr/>
          <p:nvPr/>
        </p:nvSpPr>
        <p:spPr>
          <a:xfrm>
            <a:off x="4297680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1E2761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43400" y="1463040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48640" y="224028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지표는 CloudWatch → exporter로 Prometheus에 유입 (알람 경로 단일화)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30175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장애 주입 검증 — 실제로 장애를 만들었다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548640" y="3474720"/>
            <a:ext cx="5760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파드 강제 종료 → 알람 FIRING → Slack 수신 확인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복구 시 RESOLVED 통보까지 — 왕복 검증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파드 삭제 시 자동 복구(self-healing)도 이 과정에서 함께 실증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48640" y="5212080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“알림이 오는 것을 확인한 알람만</a:t>
            </a:r>
            <a:endParaRPr lang="en-US" sz="1700" dirty="0"/>
          </a:p>
          <a:p>
            <a:pPr indent="0" marL="0">
              <a:buNone/>
            </a:pPr>
            <a:r>
              <a:rPr lang="en-US" sz="17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믿을 수 있다”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675120" y="1463040"/>
            <a:ext cx="4937760" cy="4754880"/>
          </a:xfrm>
          <a:prstGeom prst="roundRect">
            <a:avLst>
              <a:gd name="adj" fmla="val 1538"/>
            </a:avLst>
          </a:prstGeom>
          <a:solidFill>
            <a:srgbClr val="F4F6FC"/>
          </a:solidFill>
          <a:ln w="19050">
            <a:solidFill>
              <a:srgbClr val="B9C6EA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6903720" y="2926080"/>
            <a:ext cx="4480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알람 스크린샷 삽입 자리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[FIRING] AppPodRestarting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[RESOLVED] 복구 통보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06. 시연 과정 (3/3) — HPA 오토스케일링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kubectl get hpa · get pods — CPU 50% 기준 2~6 구성, 파드가 서로 다른 노드(AZ)에 분산 배치</a:t>
            </a:r>
            <a:endParaRPr lang="en-US" sz="1150" dirty="0"/>
          </a:p>
        </p:txBody>
      </p:sp>
      <p:pic>
        <p:nvPicPr>
          <p:cNvPr id="5" name="Image 0" descr="/Users/kohyeokbae/고혁배/claude/eks-gitops-portfolio/docs/images/HPA Statu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98448"/>
            <a:ext cx="11064240" cy="16642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127248"/>
            <a:ext cx="5669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 — 부하 투입 시 CPU 306% 스파이크 → summarizer 파드 6개로 증설(범례)</a:t>
            </a:r>
            <a:endParaRPr lang="en-US" sz="1150" dirty="0"/>
          </a:p>
        </p:txBody>
      </p:sp>
      <p:pic>
        <p:nvPicPr>
          <p:cNvPr id="7" name="Image 1" descr="/Users/kohyeokbae/고혁배/claude/eks-gitops-portfolio/docs/images/app pods monitoring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401568"/>
            <a:ext cx="5230368" cy="306324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172200" y="3310128"/>
            <a:ext cx="310896" cy="3108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5"/>
          <p:cNvSpPr/>
          <p:nvPr/>
        </p:nvSpPr>
        <p:spPr>
          <a:xfrm>
            <a:off x="6172200" y="3310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6629400" y="326440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부하 투입 — busybox 무한 요청 3기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172200" y="3877056"/>
            <a:ext cx="310896" cy="3108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8"/>
          <p:cNvSpPr/>
          <p:nvPr/>
        </p:nvSpPr>
        <p:spPr>
          <a:xfrm>
            <a:off x="6172200" y="3877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6629400" y="3831336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306% 감지 → 파드 2 → 6 증설 (약 2분)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172200" y="4443984"/>
            <a:ext cx="310896" cy="3108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1"/>
          <p:cNvSpPr/>
          <p:nvPr/>
        </p:nvSpPr>
        <p:spPr>
          <a:xfrm>
            <a:off x="6172200" y="44439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6629400" y="4398264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부하 제거 → CPU 2%, 안정화 창 대기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6172200" y="5010912"/>
            <a:ext cx="310896" cy="3108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8" name="Text 14"/>
          <p:cNvSpPr/>
          <p:nvPr/>
        </p:nvSpPr>
        <p:spPr>
          <a:xfrm>
            <a:off x="6172200" y="5010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6629400" y="4965192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약 6.5분 후 6 → 2 자동 축소 (설계된 지연)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6172200" y="5623560"/>
            <a:ext cx="5468112" cy="868680"/>
          </a:xfrm>
          <a:prstGeom prst="roundRect">
            <a:avLst>
              <a:gd name="adj" fmla="val 8421"/>
            </a:avLst>
          </a:prstGeom>
          <a:solidFill>
            <a:srgbClr val="CADCFC"/>
          </a:solidFill>
          <a:ln/>
        </p:spPr>
      </p:sp>
      <p:sp>
        <p:nvSpPr>
          <p:cNvPr id="21" name="Text 17"/>
          <p:cNvSpPr/>
          <p:nvPr/>
        </p:nvSpPr>
        <p:spPr>
          <a:xfrm>
            <a:off x="6400800" y="5623560"/>
            <a:ext cx="5074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관찰 — 6번째 파드 Pending(“Too many pods”)
</a:t>
            </a:r>
            <a:pPr indent="0" marL="0">
              <a:buNone/>
            </a:pPr>
            <a:r>
              <a:rPr lang="en-US" sz="1150" dirty="0">
                <a:solidFill>
                  <a:srgbClr val="24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노드 확장은 Cluster Autoscaler의 몫 — HPA의 한계까지 실증 (백로그 근거)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07. 트러블슈팅 (1/3) — 노드그룹 무증상 실패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9903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3990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[문제]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874520" y="132588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 노드그룹 38분간 CREATE_FAILED — 상태 API(health.issues)는 끝까지 비어 있음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35915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3591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[진단]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74520" y="228600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“인스턴스가 떴는가?”로 문제를 절반으로 쪼갬 → 기동 자체가 거부됨. 원인이 실제로 적히는 곳은 ASG 활동 로그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31927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31927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[원인]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874520" y="324612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Free Plan 계정의 인스턴스 타입 제약 — 코드 문제가 아니라 계정 정책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CADCFC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2976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[해결]   </a:t>
            </a:r>
            <a:pPr indent="0" marL="0">
              <a:buNone/>
            </a:pPr>
            <a:r>
              <a:rPr lang="en-US" sz="1350" dirty="0">
                <a:solidFill>
                  <a:srgbClr val="24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우회(타입 변경) 대신 근본 해결(Paid 전환) — 코드 한 줄 안 바꾸고 재시도 성공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53035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[배운점]  </a:t>
            </a:r>
            <a:pPr indent="0" marL="0">
              <a:buNone/>
            </a:pPr>
            <a:r>
              <a:rPr lang="en-US" sz="16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실패는 “원인이 기록되는 곳”이 따로 있다 — API가 조용하다고 정상이 아니다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48640" y="63550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총 7건을 문제→진단→해결→배운점 형식으로 문서화 — 발표에서는 대표 3건 (GitHub repo 참조)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07. 트러블슈팅 (2/3) — OIDC 인증 불일치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11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9903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3990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[문제]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874520" y="132588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CI의 AWS 인증(OIDC) 실패 — 에러는 “Not authorized” 한 줄뿐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35915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3591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[진단]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74520" y="228600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가설 2개(전파 지연 · 정책 연산자)를 세우고 검증으로 기각. CloudTrail에는 GitHub가 실제 제시한 값이 남아 있었다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31927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31927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[원인]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874520" y="324612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GitHub가 sub 클레임 형식을 변경(@계정ID·@저장소ID 추가) — 커뮤니티 모듈은 구형식 조건 생성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CADCFC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2976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[해결]   </a:t>
            </a:r>
            <a:pPr indent="0" marL="0">
              <a:buNone/>
            </a:pPr>
            <a:r>
              <a:rPr lang="en-US" sz="1350" dirty="0">
                <a:solidFill>
                  <a:srgbClr val="24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Role을 직접 정의하고 ID까지 고정 — 계정명 탈취·재생성 공격까지 막히는 부수효과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53035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[배운점]  </a:t>
            </a:r>
            <a:pPr indent="0" marL="0">
              <a:buNone/>
            </a:pPr>
            <a:r>
              <a:rPr lang="en-US" sz="16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신뢰 정책은 “내가 기대하는 값”이 아니라 “상대가 보내는 값”과 일치해야 한다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07. 트러블슈팅 (3/3) — 재발 사고와 절차 개선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9903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3990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[1차]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874520" y="132588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1차: 토큰 복사 시 개행 혼입 → 인증 실패 → 클립보드에서 직접 읽는 방식(pbpaste) 도입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35915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3591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[2차]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74520" y="228600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2차: 명령어를 복사하는 순간 클립보드의 토큰이 덮임 → 명령어 텍스트가 비밀번호로 등록됨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31927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31927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[원인]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874520" y="324612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“클립보드에서 읽는다”는 설계 자체가 실행 순서에 의존 — 사람이 지키기 어려운 암묵적 전제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CADCFC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2976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[해결]   </a:t>
            </a:r>
            <a:pPr indent="0" marL="0">
              <a:buNone/>
            </a:pPr>
            <a:r>
              <a:rPr lang="en-US" sz="1350" dirty="0">
                <a:solidFill>
                  <a:srgbClr val="24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클립보드를 데이터 경로에서 제거 — 화면 비표시 프롬프트로 절차 자체를 교체. 비밀값은 노출 없이 길이·접두사만으로 진단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53035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[배운점]  </a:t>
            </a:r>
            <a:pPr indent="0" marL="0">
              <a:buNone/>
            </a:pPr>
            <a:r>
              <a:rPr lang="en-US" sz="16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재발은 사람의 부주의가 아니라 프로세스의 결함 신호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07. 구축 후 재점검 — 에러 없는 문제 찾기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6002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자동화 도구끼리의 충돌 사전 제거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22960" y="214884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HPA가 늘린 파드를 ArgoCD가 되돌릴 구조를 배포 전에 발견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replicas를 Git에서 빼서 소유권을 HPA에 이관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92240" y="16002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rollout 성공 ≠ 무중단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6492240" y="214884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배포 성공 판정 직후 응답 실패 1회를 그냥 넘기지 않고 추적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계층별 완료 기준의 차이 규명, Readiness Gate 백로그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70332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2960" y="39319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HPA의 한계 실증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22960" y="448056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증설 중 파드 Pending(“Too many pods”) — 노드 계층의 한계 확인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Cluster Autoscaler 도입의 실증 근거 확보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17920" y="370332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92240" y="39319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Grafana OOMKilled 실측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6492240" y="448056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보수적 메모리 제한(256Mi)의 한계를 실사용에서 확인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512Mi 상향을 실측 근거 주석과 함께 코드에 반영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48640" y="63550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동작한다고 끝이 아니다 — 에러 없이 지나가는 문제를 찾아 기록했다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08. 핵심 설계 의사결정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14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468880"/>
                <a:gridCol w="66751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결정 항목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선택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근거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배포 방식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ArgoCD (pull)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 직접 배포 대비 자격증명이 클러스터 밖으로 안 나감 · drift 감지와 자동 복구 — Git이 단일 진실 공급원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데이터 계층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RDS 관리형 (단일 AZ)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백업·패치를 관리형에 위임, 앱과 수명주기 분리 / Multi-AZ는 비용 약 2배로 인지한 상태에서 제외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 버전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 17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현업에서 운영 중인 솔루션 DB와 동일 버전 — 경력 연속성. 재생성 구조라 코드 한 줄 변경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네트워크 비용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단일 NAT Gateway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AZ별 NAT 대비 월 $40 절감 / 단일 장애점은 문서화하고 수용 (포트폴리오 환경)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비밀값 관리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K8s Secret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Secrets Manager는 규모 대비 과잉 — 비밀값이 코드·이미지·상태파일에 남지 않는 조건 충족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3550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“과하지 않게” — 서비스 메시 · 멀티클러스터 · Karpenter는 규모 대비 과잉으로 판단해 의도적으로 제외 (상세 근거는 repo의 ADR 참조)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09. IaC 기반 비용 통제 — 재현 → 검증 → 회수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15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520440" cy="1783080"/>
          </a:xfrm>
          <a:prstGeom prst="roundRect">
            <a:avLst>
              <a:gd name="adj" fmla="val 4615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6459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재현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68680" y="21488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apply + 9단계 루틴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20분 내 전체 스택 복원 (5회 실증)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096512" y="2194560"/>
            <a:ext cx="29260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8" name="Shape 6"/>
          <p:cNvSpPr/>
          <p:nvPr/>
        </p:nvSpPr>
        <p:spPr>
          <a:xfrm>
            <a:off x="4434840" y="1417320"/>
            <a:ext cx="3520440" cy="1783080"/>
          </a:xfrm>
          <a:prstGeom prst="roundRect">
            <a:avLst>
              <a:gd name="adj" fmla="val 4615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754880" y="16459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검증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754880" y="21488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서비스 E2E · GitOps · 알람 · HPA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 항목 재통과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982712" y="2194560"/>
            <a:ext cx="29260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2" name="Shape 10"/>
          <p:cNvSpPr/>
          <p:nvPr/>
        </p:nvSpPr>
        <p:spPr>
          <a:xfrm>
            <a:off x="8321040" y="1417320"/>
            <a:ext cx="3520440" cy="1783080"/>
          </a:xfrm>
          <a:prstGeom prst="roundRect">
            <a:avLst>
              <a:gd name="adj" fmla="val 4615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641080" y="16459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회수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641080" y="21488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종료 4단계 → destroy 78개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13개 항목 전수검증 → 잔여물 0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48640" y="35204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비용 운영   </a:t>
            </a:r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상시 가동 월 $164 → destroy 병행으로 검증 하루 2,000원 미만  ·  state 밖 리소스(ALB·EBS)까지 검증해 “조용한 과금” 차단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48640" y="4434840"/>
            <a:ext cx="11064240" cy="1691640"/>
          </a:xfrm>
          <a:prstGeom prst="roundRect">
            <a:avLst>
              <a:gd name="adj" fmla="val 4865"/>
            </a:avLst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434840"/>
            <a:ext cx="10515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“지금 이 순간 AWS 과금: $0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 그리고 언제든 20분이면 되살릴 수 있습니다”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 마무리 — 배운 점과 다음 단계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배운 점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1874520"/>
            <a:ext cx="5394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완료의 기준은 계층마다 다르다 — rollout 성공 ≠ 로드밸런서 무중단, HPA 증설 ≠ 노드 여유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실패의 원인은 기록되는 곳이 따로 있다 — ASG 로그 · CloudTrail · 파드 Events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문서가 곧 재현성이다 — ADR 3건 · 트러블슈팅 7건 · 운영 루틴 (5회 재현으로 증명)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309360" y="1463040"/>
            <a:ext cx="0" cy="4480560"/>
          </a:xfrm>
          <a:prstGeom prst="line">
            <a:avLst/>
          </a:prstGeom>
          <a:noFill/>
          <a:ln w="19050">
            <a:solidFill>
              <a:srgbClr val="E1E6F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0" y="13258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다음 단계 (백로그)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675120" y="187452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Autoscaler — Pending 실증을 근거로 노드 자동 확장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Readiness Gate — 롤링 배포 무중단 보강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Budgets 예산 알람 · 알람 라우팅 튜닝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테스트 코드 + CI 테스트 단계 · 앱 고도화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27337A"/>
          </a:solidFill>
          <a:ln/>
        </p:spPr>
      </p:sp>
      <p:sp>
        <p:nvSpPr>
          <p:cNvPr id="3" name="Shape 1"/>
          <p:cNvSpPr/>
          <p:nvPr/>
        </p:nvSpPr>
        <p:spPr>
          <a:xfrm>
            <a:off x="-1554480" y="4937760"/>
            <a:ext cx="3474720" cy="3474720"/>
          </a:xfrm>
          <a:prstGeom prst="ellipse">
            <a:avLst/>
          </a:prstGeom>
          <a:solidFill>
            <a:srgbClr val="27337A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54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감사합니다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26517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github.com/soc05272/eks-gitops-portfolio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3657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repo에서 확인하실 수 있습니다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411480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AFC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트러블슈팅 7건 (문제 → 진단 → 해결 → 배운 점)</a:t>
            </a:r>
            <a:endParaRPr lang="en-US" sz="135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AFC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의사결정 기록 3건 (ADR)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AFC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날짜별 작업 로그와 재기동·종료 루틴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778240" y="6309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(QR코드 삽입 자리 — 우하단)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2026-08-27T12:24:40Z</dcterms:created>
  <dcterms:modified xsi:type="dcterms:W3CDTF">2026-08-27T12:24:40Z</dcterms:modified>
</cp:coreProperties>
</file>